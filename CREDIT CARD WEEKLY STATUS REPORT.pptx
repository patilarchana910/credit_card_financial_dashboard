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D1"/>
    <a:srgbClr val="FF5D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50" autoAdjust="0"/>
    <p:restoredTop sz="94660"/>
  </p:normalViewPr>
  <p:slideViewPr>
    <p:cSldViewPr snapToGrid="0">
      <p:cViewPr>
        <p:scale>
          <a:sx n="100" d="100"/>
          <a:sy n="100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A07761-BC30-4F96-A266-A8FB566FD2D9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7B2A8E7-CF49-45A6-840B-8010293F4862}">
      <dgm:prSet/>
      <dgm:spPr/>
      <dgm:t>
        <a:bodyPr/>
        <a:lstStyle/>
        <a:p>
          <a:r>
            <a:rPr lang="en-CA" b="1" i="0" baseline="0" dirty="0"/>
            <a:t>Project Objective</a:t>
          </a:r>
          <a:endParaRPr lang="en-US" dirty="0"/>
        </a:p>
      </dgm:t>
    </dgm:pt>
    <dgm:pt modelId="{BB832F28-820A-4FD7-84B6-6DF6637E7972}" type="parTrans" cxnId="{F1A08BAA-2629-4A50-A7C5-DA6713873BAD}">
      <dgm:prSet/>
      <dgm:spPr/>
      <dgm:t>
        <a:bodyPr/>
        <a:lstStyle/>
        <a:p>
          <a:endParaRPr lang="en-US"/>
        </a:p>
      </dgm:t>
    </dgm:pt>
    <dgm:pt modelId="{511BB1F0-B9F8-4A17-9F5A-690D2A222443}" type="sibTrans" cxnId="{F1A08BAA-2629-4A50-A7C5-DA6713873BAD}">
      <dgm:prSet/>
      <dgm:spPr/>
      <dgm:t>
        <a:bodyPr/>
        <a:lstStyle/>
        <a:p>
          <a:endParaRPr lang="en-US"/>
        </a:p>
      </dgm:t>
    </dgm:pt>
    <dgm:pt modelId="{CF8BDCF3-4BDA-45B4-B86B-1157CCBBD493}">
      <dgm:prSet/>
      <dgm:spPr/>
      <dgm:t>
        <a:bodyPr/>
        <a:lstStyle/>
        <a:p>
          <a:r>
            <a:rPr lang="en-US" b="0" i="0" baseline="0" dirty="0"/>
            <a:t>To develop a comprehensive credit card weekly dashboard that provides real-time insights into key performance metrics and trends, enabling stakeholders to monitor and analyze credit card operations effectively. </a:t>
          </a:r>
          <a:endParaRPr lang="en-US" dirty="0"/>
        </a:p>
      </dgm:t>
    </dgm:pt>
    <dgm:pt modelId="{D2DD78A4-3E38-4543-A44E-A6953737225C}" type="parTrans" cxnId="{8203836D-609A-41A7-B421-65B735CF4C55}">
      <dgm:prSet/>
      <dgm:spPr/>
      <dgm:t>
        <a:bodyPr/>
        <a:lstStyle/>
        <a:p>
          <a:endParaRPr lang="en-US"/>
        </a:p>
      </dgm:t>
    </dgm:pt>
    <dgm:pt modelId="{39E17F8F-32C5-40DC-A67F-88D1EB6E02EC}" type="sibTrans" cxnId="{8203836D-609A-41A7-B421-65B735CF4C55}">
      <dgm:prSet/>
      <dgm:spPr/>
      <dgm:t>
        <a:bodyPr/>
        <a:lstStyle/>
        <a:p>
          <a:endParaRPr lang="en-US"/>
        </a:p>
      </dgm:t>
    </dgm:pt>
    <dgm:pt modelId="{FE0DE9F5-A06E-408D-8FAE-351C2A0062E1}" type="pres">
      <dgm:prSet presAssocID="{BFA07761-BC30-4F96-A266-A8FB566FD2D9}" presName="vert0" presStyleCnt="0">
        <dgm:presLayoutVars>
          <dgm:dir/>
          <dgm:animOne val="branch"/>
          <dgm:animLvl val="lvl"/>
        </dgm:presLayoutVars>
      </dgm:prSet>
      <dgm:spPr/>
    </dgm:pt>
    <dgm:pt modelId="{23FBBE3C-5CB6-4782-840D-C9033951E548}" type="pres">
      <dgm:prSet presAssocID="{B7B2A8E7-CF49-45A6-840B-8010293F4862}" presName="thickLine" presStyleLbl="alignNode1" presStyleIdx="0" presStyleCnt="2"/>
      <dgm:spPr/>
    </dgm:pt>
    <dgm:pt modelId="{6918F335-585E-4316-AF89-A96851FDB700}" type="pres">
      <dgm:prSet presAssocID="{B7B2A8E7-CF49-45A6-840B-8010293F4862}" presName="horz1" presStyleCnt="0"/>
      <dgm:spPr/>
    </dgm:pt>
    <dgm:pt modelId="{62131171-91B1-4432-8F59-9D2A760210CA}" type="pres">
      <dgm:prSet presAssocID="{B7B2A8E7-CF49-45A6-840B-8010293F4862}" presName="tx1" presStyleLbl="revTx" presStyleIdx="0" presStyleCnt="2"/>
      <dgm:spPr/>
    </dgm:pt>
    <dgm:pt modelId="{6BD6BC26-B16E-44D1-AAB3-844AE156C49F}" type="pres">
      <dgm:prSet presAssocID="{B7B2A8E7-CF49-45A6-840B-8010293F4862}" presName="vert1" presStyleCnt="0"/>
      <dgm:spPr/>
    </dgm:pt>
    <dgm:pt modelId="{E2AD43DD-2E29-48CA-B755-368044DE2FC8}" type="pres">
      <dgm:prSet presAssocID="{CF8BDCF3-4BDA-45B4-B86B-1157CCBBD493}" presName="thickLine" presStyleLbl="alignNode1" presStyleIdx="1" presStyleCnt="2"/>
      <dgm:spPr/>
    </dgm:pt>
    <dgm:pt modelId="{89ECB714-AA76-42A5-AB13-25A554BFE7F2}" type="pres">
      <dgm:prSet presAssocID="{CF8BDCF3-4BDA-45B4-B86B-1157CCBBD493}" presName="horz1" presStyleCnt="0"/>
      <dgm:spPr/>
    </dgm:pt>
    <dgm:pt modelId="{3E550131-CA93-4F66-A65C-1AED9012C932}" type="pres">
      <dgm:prSet presAssocID="{CF8BDCF3-4BDA-45B4-B86B-1157CCBBD493}" presName="tx1" presStyleLbl="revTx" presStyleIdx="1" presStyleCnt="2"/>
      <dgm:spPr/>
    </dgm:pt>
    <dgm:pt modelId="{69AC11E5-0438-4A7D-AECC-BD6BA77629CA}" type="pres">
      <dgm:prSet presAssocID="{CF8BDCF3-4BDA-45B4-B86B-1157CCBBD493}" presName="vert1" presStyleCnt="0"/>
      <dgm:spPr/>
    </dgm:pt>
  </dgm:ptLst>
  <dgm:cxnLst>
    <dgm:cxn modelId="{80B8A149-BE6D-4734-84F0-033DC591F50E}" type="presOf" srcId="{CF8BDCF3-4BDA-45B4-B86B-1157CCBBD493}" destId="{3E550131-CA93-4F66-A65C-1AED9012C932}" srcOrd="0" destOrd="0" presId="urn:microsoft.com/office/officeart/2008/layout/LinedList"/>
    <dgm:cxn modelId="{8203836D-609A-41A7-B421-65B735CF4C55}" srcId="{BFA07761-BC30-4F96-A266-A8FB566FD2D9}" destId="{CF8BDCF3-4BDA-45B4-B86B-1157CCBBD493}" srcOrd="1" destOrd="0" parTransId="{D2DD78A4-3E38-4543-A44E-A6953737225C}" sibTransId="{39E17F8F-32C5-40DC-A67F-88D1EB6E02EC}"/>
    <dgm:cxn modelId="{675E7987-5830-42AE-9793-47E94A57FB0F}" type="presOf" srcId="{B7B2A8E7-CF49-45A6-840B-8010293F4862}" destId="{62131171-91B1-4432-8F59-9D2A760210CA}" srcOrd="0" destOrd="0" presId="urn:microsoft.com/office/officeart/2008/layout/LinedList"/>
    <dgm:cxn modelId="{F1A08BAA-2629-4A50-A7C5-DA6713873BAD}" srcId="{BFA07761-BC30-4F96-A266-A8FB566FD2D9}" destId="{B7B2A8E7-CF49-45A6-840B-8010293F4862}" srcOrd="0" destOrd="0" parTransId="{BB832F28-820A-4FD7-84B6-6DF6637E7972}" sibTransId="{511BB1F0-B9F8-4A17-9F5A-690D2A222443}"/>
    <dgm:cxn modelId="{EE691BDF-A7D0-4E77-A3EF-BFEF1C42FDC2}" type="presOf" srcId="{BFA07761-BC30-4F96-A266-A8FB566FD2D9}" destId="{FE0DE9F5-A06E-408D-8FAE-351C2A0062E1}" srcOrd="0" destOrd="0" presId="urn:microsoft.com/office/officeart/2008/layout/LinedList"/>
    <dgm:cxn modelId="{68787EFF-500B-4D35-95A5-7D224BBD8572}" type="presParOf" srcId="{FE0DE9F5-A06E-408D-8FAE-351C2A0062E1}" destId="{23FBBE3C-5CB6-4782-840D-C9033951E548}" srcOrd="0" destOrd="0" presId="urn:microsoft.com/office/officeart/2008/layout/LinedList"/>
    <dgm:cxn modelId="{9283039B-517D-4BAA-8879-BA16352E034A}" type="presParOf" srcId="{FE0DE9F5-A06E-408D-8FAE-351C2A0062E1}" destId="{6918F335-585E-4316-AF89-A96851FDB700}" srcOrd="1" destOrd="0" presId="urn:microsoft.com/office/officeart/2008/layout/LinedList"/>
    <dgm:cxn modelId="{D316428A-A378-490B-B8BA-0DBB9C7F2EF0}" type="presParOf" srcId="{6918F335-585E-4316-AF89-A96851FDB700}" destId="{62131171-91B1-4432-8F59-9D2A760210CA}" srcOrd="0" destOrd="0" presId="urn:microsoft.com/office/officeart/2008/layout/LinedList"/>
    <dgm:cxn modelId="{00BB8582-FECA-4C30-8E40-6B7E9FBAF621}" type="presParOf" srcId="{6918F335-585E-4316-AF89-A96851FDB700}" destId="{6BD6BC26-B16E-44D1-AAB3-844AE156C49F}" srcOrd="1" destOrd="0" presId="urn:microsoft.com/office/officeart/2008/layout/LinedList"/>
    <dgm:cxn modelId="{2C591FA7-FA6C-4F7E-83E6-7DF4D94F1933}" type="presParOf" srcId="{FE0DE9F5-A06E-408D-8FAE-351C2A0062E1}" destId="{E2AD43DD-2E29-48CA-B755-368044DE2FC8}" srcOrd="2" destOrd="0" presId="urn:microsoft.com/office/officeart/2008/layout/LinedList"/>
    <dgm:cxn modelId="{C4B7164B-4EBC-4525-B295-6A0D734D9AE3}" type="presParOf" srcId="{FE0DE9F5-A06E-408D-8FAE-351C2A0062E1}" destId="{89ECB714-AA76-42A5-AB13-25A554BFE7F2}" srcOrd="3" destOrd="0" presId="urn:microsoft.com/office/officeart/2008/layout/LinedList"/>
    <dgm:cxn modelId="{F2379219-2506-4582-8DF9-0FC6353F924C}" type="presParOf" srcId="{89ECB714-AA76-42A5-AB13-25A554BFE7F2}" destId="{3E550131-CA93-4F66-A65C-1AED9012C932}" srcOrd="0" destOrd="0" presId="urn:microsoft.com/office/officeart/2008/layout/LinedList"/>
    <dgm:cxn modelId="{15393F46-184A-4AF1-8B95-4C5CC88DC265}" type="presParOf" srcId="{89ECB714-AA76-42A5-AB13-25A554BFE7F2}" destId="{69AC11E5-0438-4A7D-AECC-BD6BA77629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BBE3C-5CB6-4782-840D-C9033951E548}">
      <dsp:nvSpPr>
        <dsp:cNvPr id="0" name=""/>
        <dsp:cNvSpPr/>
      </dsp:nvSpPr>
      <dsp:spPr>
        <a:xfrm>
          <a:off x="0" y="0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2131171-91B1-4432-8F59-9D2A760210CA}">
      <dsp:nvSpPr>
        <dsp:cNvPr id="0" name=""/>
        <dsp:cNvSpPr/>
      </dsp:nvSpPr>
      <dsp:spPr>
        <a:xfrm>
          <a:off x="0" y="0"/>
          <a:ext cx="4765949" cy="1676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i="0" kern="1200" baseline="0" dirty="0"/>
            <a:t>Project Objective</a:t>
          </a:r>
          <a:endParaRPr lang="en-US" sz="1800" kern="1200" dirty="0"/>
        </a:p>
      </dsp:txBody>
      <dsp:txXfrm>
        <a:off x="0" y="0"/>
        <a:ext cx="4765949" cy="1676738"/>
      </dsp:txXfrm>
    </dsp:sp>
    <dsp:sp modelId="{E2AD43DD-2E29-48CA-B755-368044DE2FC8}">
      <dsp:nvSpPr>
        <dsp:cNvPr id="0" name=""/>
        <dsp:cNvSpPr/>
      </dsp:nvSpPr>
      <dsp:spPr>
        <a:xfrm>
          <a:off x="0" y="1676738"/>
          <a:ext cx="4765949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550131-CA93-4F66-A65C-1AED9012C932}">
      <dsp:nvSpPr>
        <dsp:cNvPr id="0" name=""/>
        <dsp:cNvSpPr/>
      </dsp:nvSpPr>
      <dsp:spPr>
        <a:xfrm>
          <a:off x="0" y="1676738"/>
          <a:ext cx="4765949" cy="16767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To develop a comprehensive credit card weekly dashboard that provides real-time insights into key performance metrics and trends, enabling stakeholders to monitor and analyze credit card operations effectively. </a:t>
          </a:r>
          <a:endParaRPr lang="en-US" sz="1800" kern="1200" dirty="0"/>
        </a:p>
      </dsp:txBody>
      <dsp:txXfrm>
        <a:off x="0" y="1676738"/>
        <a:ext cx="4765949" cy="1676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4F8A-CD50-AEAD-D74B-21792DC66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D21DE9-76A9-76B8-CE0B-D4866209D6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DCE7-7AC9-8380-E2CD-3947BC283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77A06-0771-8D78-F374-F04A09D7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DDC61-7F30-9491-6153-12F217E4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6711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73630-DAC0-259F-6A8E-59949646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148AA-24E2-77EA-AB5E-2D12522E3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4EF13-F70B-5DDF-66C2-3ED0F184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D0F4-DB19-5ECE-35B7-3EB99D7C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DC760-79E3-CD2D-E240-0D844983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2573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D37F6-BF65-74C3-0E10-2D819753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9439F-B8FF-4472-9E70-5CF5FD0C5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B0DC1-F4ED-D011-601C-B1DC69DE5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3F507-9F6C-29B2-7B3D-BA8030DB7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79BCA-7275-8BED-4639-4CD20F375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20101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A691-EF4E-F290-29AC-B40E29177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231D6-03DB-6E1F-CDDB-EE7C39A375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C1FCC6-1042-BF42-4BE1-96F5C270A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ACF8A-F01C-F948-36A7-2BD19F7C4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3DD09-E2E0-07A8-638E-7F7376D93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3233A4-F4D9-DF14-14C6-62FE49ABE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84133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1865-A0E3-9978-0762-639D99BF9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5159D-81B8-28E5-A9B3-4F5210CCD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0DB5E-831D-E248-D752-46AE0346B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6542F-B239-B93A-5D34-0997D39F7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EB7B1-88FF-CE8D-B746-2AC80AB9C0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55091B-8746-13C5-85D6-3341E498D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85AB6-E1D1-949D-FDBE-796BE908F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51309-23CF-24DE-B16F-2FEA5B60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42671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5D9A3-127C-2D04-0999-4F478AC15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4F4BB-368E-F277-5039-29EC9FB0C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D487E-2945-82BE-B57A-2A50455D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C6CBE-424B-CFFB-ED05-9CDB097D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155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F5D5C-0DFA-6AFB-F5E3-C7DFF134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7441E3-B0A8-E7C3-9218-084DA736A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91D1E-220C-8067-F44D-E8BBB722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06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5128-249F-4DBF-2751-4D5583D5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218F-F7AD-6A36-DCDE-F98C394AD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D36D0-C728-0C78-05C3-50F087442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911E7-5624-8117-C437-1D463702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1DE82-C2E0-D8A2-8F0D-1A7C4552C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211B6-E84D-C2F9-D9AC-2FEF58DD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94338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E8819-FEAE-B7B7-5253-3E64C6527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3BE683-4E9A-8B50-4094-63276B546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9B4A8F-8F9B-0CE1-B2FE-6F9925732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32BC4-19E8-D180-6D29-65FC54CF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1AE11-D6CA-AF0F-3980-5B341779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384310-2C98-899A-B076-0C880634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341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DAFD-A6A9-15B2-D196-D445BC64B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1C2DE-1C8C-09AF-B49E-ACCF202D7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7AA6A-045D-1443-80A2-521194B00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EB263-96F0-513B-01CE-C5298F77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C52F-6D36-8D72-C4B4-826D45BB3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398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AF0945-0874-07EB-EB28-7344FCCF93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E9E43-07BD-C331-A195-004DFB8B5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CEB8A-A675-3CAB-4265-D9C06058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5DD4A-CAB8-2C50-D9D4-246D6F2C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C5580-8D43-C1D7-C4C7-CA59260AB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0508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A4DB46-7D65-558C-1A04-E52344C5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F8D78-8016-5765-6471-C9DC74CD5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509A7-9ECF-2541-A3A5-2078CA5563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6A1FE-4CEF-411E-8F78-091746ED32B8}" type="datetimeFigureOut">
              <a:rPr lang="en-CA" smtClean="0"/>
              <a:t>2025-01-05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5528-CAEC-47F8-C528-9E4C82AC1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AF722-09A3-1B5E-1E19-5A2D1FB0D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984DC-FC73-41ED-A42F-0B2F551864D7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717758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62C2C1-475E-0576-6375-37ACA53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5729" y="1764407"/>
            <a:ext cx="5760846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CREDIT CARD</a:t>
            </a:r>
            <a:br>
              <a:rPr lang="en-US" sz="5200" b="0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28BA71-A507-8F5B-2CA4-F3D91203BEDF}"/>
              </a:ext>
            </a:extLst>
          </p:cNvPr>
          <p:cNvSpPr txBox="1"/>
          <p:nvPr/>
        </p:nvSpPr>
        <p:spPr>
          <a:xfrm>
            <a:off x="3284239" y="3901201"/>
            <a:ext cx="5760846" cy="6820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4000" b="0" i="0" u="none" strike="noStrike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WEEKLY </a:t>
            </a:r>
            <a:br>
              <a:rPr lang="en-US" sz="4000" b="0" i="0" u="none" strike="noStrike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4000" b="0" i="0" u="none" strike="noStrike" kern="1200" baseline="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STATUS REPORT</a:t>
            </a:r>
            <a:endParaRPr lang="en-US" sz="40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4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4BC9AF0-9FD1-3587-D4CB-3DDEDAF464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1784815"/>
            <a:ext cx="4142232" cy="4211914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04D52CEF-943F-72D9-5BCA-C378F4218E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799522"/>
              </p:ext>
            </p:extLst>
          </p:nvPr>
        </p:nvGraphicFramePr>
        <p:xfrm>
          <a:off x="526146" y="1752262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01480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E470CF-2872-3D90-3A14-1D00FBE0798E}"/>
              </a:ext>
            </a:extLst>
          </p:cNvPr>
          <p:cNvSpPr txBox="1"/>
          <p:nvPr/>
        </p:nvSpPr>
        <p:spPr>
          <a:xfrm>
            <a:off x="797511" y="458057"/>
            <a:ext cx="4766330" cy="145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Project Insights- Week 52 (24th Dec)</a:t>
            </a:r>
            <a:endParaRPr lang="en-US" sz="36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87D32E-ED7C-95A1-15EE-EE40F8079726}"/>
              </a:ext>
            </a:extLst>
          </p:cNvPr>
          <p:cNvSpPr txBox="1"/>
          <p:nvPr/>
        </p:nvSpPr>
        <p:spPr>
          <a:xfrm>
            <a:off x="797511" y="1920465"/>
            <a:ext cx="5067763" cy="44794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tx2"/>
                </a:solidFill>
              </a:rPr>
              <a:t>Week on week(</a:t>
            </a:r>
            <a:r>
              <a:rPr lang="en-US" sz="1400" b="1" i="0" u="none" strike="noStrike" baseline="0" dirty="0">
                <a:solidFill>
                  <a:schemeClr val="tx2"/>
                </a:solidFill>
              </a:rPr>
              <a:t>WoW) change: </a:t>
            </a:r>
            <a:endParaRPr lang="en-US" sz="1400" b="0" i="0" u="none" strike="noStrike" baseline="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Highest revenue increase by 14.5%,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Total Transaction Amt &amp; Count increased by </a:t>
            </a:r>
            <a:r>
              <a:rPr lang="en-US" sz="1400" dirty="0">
                <a:solidFill>
                  <a:schemeClr val="tx2"/>
                </a:solidFill>
              </a:rPr>
              <a:t>143460</a:t>
            </a:r>
            <a:r>
              <a:rPr lang="en-US" sz="1400" b="0" i="0" u="none" strike="noStrike" baseline="0" dirty="0">
                <a:solidFill>
                  <a:schemeClr val="tx2"/>
                </a:solidFill>
              </a:rPr>
              <a:t> &amp; </a:t>
            </a:r>
            <a:r>
              <a:rPr lang="en-US" sz="1400" dirty="0">
                <a:solidFill>
                  <a:schemeClr val="tx2"/>
                </a:solidFill>
              </a:rPr>
              <a:t>14.5</a:t>
            </a:r>
            <a:r>
              <a:rPr lang="en-US" sz="1400" b="0" i="0" u="none" strike="noStrike" baseline="0" dirty="0">
                <a:solidFill>
                  <a:schemeClr val="tx2"/>
                </a:solidFill>
              </a:rPr>
              <a:t>%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b="0" i="0" u="none" strike="noStrike" baseline="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i="0" u="none" strike="noStrike" baseline="0" dirty="0">
                <a:solidFill>
                  <a:schemeClr val="tx2"/>
                </a:solidFill>
              </a:rPr>
              <a:t>Overview Year to Date(YTD):</a:t>
            </a:r>
            <a:endParaRPr lang="en-US" sz="1400" b="0" i="0" u="none" strike="noStrike" baseline="0" dirty="0">
              <a:solidFill>
                <a:schemeClr val="tx2"/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Overall revenue is 55M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Total interest is 8M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Total transaction amount is 45M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Male customers are contributing more in revenue 30M, female 25M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Blue credit card is generating highest revenue (83.4%) followed by Silver credit cards (10.1%) then Gold and Platinum cards.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Overall Activation rate is 57.5%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0" i="0" u="none" strike="noStrike" baseline="0" dirty="0">
                <a:solidFill>
                  <a:schemeClr val="tx2"/>
                </a:solidFill>
              </a:rPr>
              <a:t>Overall Delinquent rate is 6.07%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F23D502-9615-B49D-8DD6-C39CC0F6F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2" y="2139885"/>
            <a:ext cx="4142232" cy="273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6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4" name="Picture 3" descr="A screenshot of a diagram&#10;&#10;Description automatically generated">
            <a:extLst>
              <a:ext uri="{FF2B5EF4-FFF2-40B4-BE49-F238E27FC236}">
                <a16:creationId xmlns:a16="http://schemas.microsoft.com/office/drawing/2014/main" id="{19B4B56F-4665-4F47-E15F-D967F66E3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864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00F86A2-2B21-A317-8344-FD2E3F364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5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791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2C2C1-475E-0576-6375-37ACA53459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2848" y="2273844"/>
            <a:ext cx="7239215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  <a:br>
              <a:rPr lang="en-US" sz="5200" b="0" i="0" u="none" strike="noStrike" kern="1200" baseline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6847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142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CREDIT CARD </vt:lpstr>
      <vt:lpstr>PowerPoint Presentation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Ojas Patil</dc:creator>
  <cp:lastModifiedBy>Ojas Patil</cp:lastModifiedBy>
  <cp:revision>4</cp:revision>
  <dcterms:created xsi:type="dcterms:W3CDTF">2024-10-04T20:55:50Z</dcterms:created>
  <dcterms:modified xsi:type="dcterms:W3CDTF">2025-01-05T23:26:20Z</dcterms:modified>
</cp:coreProperties>
</file>